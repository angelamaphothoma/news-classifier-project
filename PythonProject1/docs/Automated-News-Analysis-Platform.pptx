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等线" panose="02010600030101010101" pitchFamily="2" charset="-122"/>
      <p:regular r:id="rId16"/>
      <p:bold r:id="rId17"/>
    </p:embeddedFont>
    <p:embeddedFont>
      <p:font typeface="Patrick Han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8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68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2374225"/>
            <a:ext cx="4531638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Automated News Analysis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6073" y="2894409"/>
            <a:ext cx="179427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&amp; Objectives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6073" y="3387685"/>
            <a:ext cx="6259354" cy="2467570"/>
          </a:xfrm>
          <a:prstGeom prst="roundRect">
            <a:avLst>
              <a:gd name="adj" fmla="val 4447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3213" y="3387685"/>
            <a:ext cx="91440" cy="2467570"/>
          </a:xfrm>
          <a:prstGeom prst="roundRect">
            <a:avLst>
              <a:gd name="adj" fmla="val 82415"/>
            </a:avLst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1236940" y="3589973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Statement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6940" y="3966686"/>
            <a:ext cx="578619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Manual news categorization is time-consuming.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6940" y="4316492"/>
            <a:ext cx="578619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Need automated sentiment analysis.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6940" y="4666297"/>
            <a:ext cx="578619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Scalable deployment required.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4854" y="3387685"/>
            <a:ext cx="6259473" cy="2467570"/>
          </a:xfrm>
          <a:prstGeom prst="roundRect">
            <a:avLst>
              <a:gd name="adj" fmla="val 4447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81994" y="3387685"/>
            <a:ext cx="91440" cy="2467570"/>
          </a:xfrm>
          <a:prstGeom prst="roundRect">
            <a:avLst>
              <a:gd name="adj" fmla="val 82415"/>
            </a:avLst>
          </a:prstGeom>
          <a:solidFill>
            <a:srgbClr val="CCCCCC"/>
          </a:solidFill>
          <a:ln/>
        </p:spPr>
      </p:sp>
      <p:sp>
        <p:nvSpPr>
          <p:cNvPr id="12" name="Text 10"/>
          <p:cNvSpPr/>
          <p:nvPr/>
        </p:nvSpPr>
        <p:spPr>
          <a:xfrm>
            <a:off x="7675721" y="3589973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Objectives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675721" y="3966686"/>
            <a:ext cx="5786318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Design containerized ML application.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75721" y="4316492"/>
            <a:ext cx="5786318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 news classification &amp; sentiment analysis.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75721" y="4666297"/>
            <a:ext cx="5786318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 vector database for semantic search.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75721" y="5016103"/>
            <a:ext cx="5786318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Provide user-friendly interface.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75721" y="5365909"/>
            <a:ext cx="5786318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Ensure scalable deployment.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12729029" y="7649029"/>
            <a:ext cx="1799771" cy="47897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305401"/>
            <a:ext cx="3922871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3383706" y="2431604"/>
            <a:ext cx="1467403" cy="18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Streamlit UI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383706" y="2680247"/>
            <a:ext cx="1781009" cy="18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Interactive dashboards and inputs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9458653" y="2431604"/>
            <a:ext cx="1467403" cy="18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FastAPI Backend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9458653" y="2680247"/>
            <a:ext cx="1781009" cy="3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Handles requests and ML pipeline orchestration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3383706" y="4554498"/>
            <a:ext cx="1467403" cy="18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Local ML Model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3383706" y="4803141"/>
            <a:ext cx="1781009" cy="18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On-device inference and training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9450374" y="4554498"/>
            <a:ext cx="1467403" cy="18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ChromaDB Vector DB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9450374" y="4803141"/>
            <a:ext cx="1781009" cy="18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Stores embeddings for retrieval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966073" y="6349960"/>
            <a:ext cx="12698254" cy="57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Our system features a Streamlit UI for interactive dashboards, a FastAPI backend for the ML pipeline, and integrated components for local ML models, text preprocessing, and ChromaDB vector storage.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12729029" y="7649029"/>
            <a:ext cx="1799771" cy="47897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751052"/>
            <a:ext cx="3588544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ML Pipeline &amp; Model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6073" y="2558415"/>
            <a:ext cx="179427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6073" y="2840355"/>
            <a:ext cx="6259354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966073" y="2975729"/>
            <a:ext cx="179427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Text Preprocessing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6073" y="3307556"/>
            <a:ext cx="62593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Cleaning &amp; normalization.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6073" y="3657362"/>
            <a:ext cx="62593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altLang="zh-CN" sz="1400" dirty="0" smtClean="0">
                <a:solidFill>
                  <a:srgbClr val="383838"/>
                </a:solidFill>
                <a:latin typeface="Patrick Hand" pitchFamily="34" charset="0"/>
              </a:rPr>
              <a:t>Advanced text cleaning &amp; normalization with custom tokenization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6073" y="4007168"/>
            <a:ext cx="62593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Stopword removal.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04854" y="2558415"/>
            <a:ext cx="179427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4854" y="2840355"/>
            <a:ext cx="6259473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7404854" y="2975729"/>
            <a:ext cx="179427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Classification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4854" y="3307556"/>
            <a:ext cx="625947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</a:t>
            </a: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ransform-based classification using Sentence-Bert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04854" y="3657362"/>
            <a:ext cx="625947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Embedding and cosine similarity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4854" y="4007168"/>
            <a:ext cx="625947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 news categories.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6073" y="4608195"/>
            <a:ext cx="179427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6073" y="4890135"/>
            <a:ext cx="6259354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Text 15"/>
          <p:cNvSpPr/>
          <p:nvPr/>
        </p:nvSpPr>
        <p:spPr>
          <a:xfrm>
            <a:off x="966073" y="5025509"/>
            <a:ext cx="179427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6073" y="5357336"/>
            <a:ext cx="62593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Semantic analysis via embedding similarity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6073" y="5707142"/>
            <a:ext cx="62593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Confidence scoring.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6073" y="6056948"/>
            <a:ext cx="62593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external API dependencies.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4854" y="4608195"/>
            <a:ext cx="179427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04854" y="4890135"/>
            <a:ext cx="6259473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21"/>
          <p:cNvSpPr/>
          <p:nvPr/>
        </p:nvSpPr>
        <p:spPr>
          <a:xfrm>
            <a:off x="7404854" y="5025509"/>
            <a:ext cx="179427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Vector Embeddings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4854" y="5357336"/>
            <a:ext cx="625947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State-of-the-art Sentence Transformer </a:t>
            </a:r>
            <a:r>
              <a:rPr lang="en-US" sz="1400" dirty="0" err="1" smtClean="0">
                <a:solidFill>
                  <a:srgbClr val="383838"/>
                </a:solidFill>
                <a:latin typeface="Patrick Hand" pitchFamily="34" charset="0"/>
              </a:rPr>
              <a:t>embeddings</a:t>
            </a: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 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4854" y="5707142"/>
            <a:ext cx="625947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Semantic search capability.</a:t>
            </a:r>
            <a:endParaRPr lang="en-US" sz="1400" dirty="0"/>
          </a:p>
        </p:txBody>
      </p:sp>
      <p:sp>
        <p:nvSpPr>
          <p:cNvPr id="26" name="Rectangle 25"/>
          <p:cNvSpPr/>
          <p:nvPr/>
        </p:nvSpPr>
        <p:spPr>
          <a:xfrm>
            <a:off x="12729029" y="7649029"/>
            <a:ext cx="1799771" cy="47897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470898"/>
            <a:ext cx="3894892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Containerization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6073" y="2278261"/>
            <a:ext cx="126982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Leveraging Docker for reproducible and scalable deployment.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6073" y="2946559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Designed Containers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66073" y="3417451"/>
            <a:ext cx="6130290" cy="1567934"/>
          </a:xfrm>
          <a:prstGeom prst="roundRect">
            <a:avLst>
              <a:gd name="adj" fmla="val 480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693" y="3425071"/>
            <a:ext cx="6114336" cy="5175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53835" y="3540323"/>
            <a:ext cx="167520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95518" y="3540323"/>
            <a:ext cx="167139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33392" y="3540323"/>
            <a:ext cx="167520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ML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73693" y="3942636"/>
            <a:ext cx="6114336" cy="5175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53835" y="4057888"/>
            <a:ext cx="167520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Streamlit UI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95518" y="4057888"/>
            <a:ext cx="167139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8501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33392" y="4057888"/>
            <a:ext cx="167520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3693" y="4460200"/>
            <a:ext cx="6114336" cy="5175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53835" y="4575453"/>
            <a:ext cx="167520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ChromaDB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95518" y="4575453"/>
            <a:ext cx="167139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8000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3392" y="4575453"/>
            <a:ext cx="167520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Vector 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1657" y="2946559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Containerization Benefits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541657" y="3395067"/>
            <a:ext cx="61302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Reproducible environments.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1657" y="3744873"/>
            <a:ext cx="61302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Scalable deployment.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41657" y="4094678"/>
            <a:ext cx="61302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Dependency isolation.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1657" y="4444484"/>
            <a:ext cx="61302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Easy deployment to cloud.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1657" y="4910971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Docker Files Created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541657" y="5359479"/>
            <a:ext cx="61302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app.Dockerfile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41657" y="5709285"/>
            <a:ext cx="61302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streamlit.Dockerfile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41657" y="6059091"/>
            <a:ext cx="61302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docker-compose.yml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41657" y="6408896"/>
            <a:ext cx="61302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.dockerignore</a:t>
            </a:r>
            <a:endParaRPr lang="en-US" sz="1400" dirty="0"/>
          </a:p>
        </p:txBody>
      </p:sp>
      <p:sp>
        <p:nvSpPr>
          <p:cNvPr id="28" name="Rectangle 27"/>
          <p:cNvSpPr/>
          <p:nvPr/>
        </p:nvSpPr>
        <p:spPr>
          <a:xfrm>
            <a:off x="12729029" y="7649029"/>
            <a:ext cx="1799771" cy="47897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2320171"/>
            <a:ext cx="6683693" cy="58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ChromaDB Vector Database Integration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966073" y="3493175"/>
            <a:ext cx="281559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6073" y="4079677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Sentence embeddings storage.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6073" y="4537115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Semantic search functionality.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6073" y="4994553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Article similarity matching.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6073" y="5451991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query processing.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96746" y="3493175"/>
            <a:ext cx="281559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6746" y="4079677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Cosine similarity search.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6746" y="4537115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Category-based filtering.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6746" y="4994553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Sentiment-based queries.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6746" y="5451991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Batch processing support.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27419" y="3493175"/>
            <a:ext cx="281559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 Cases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27419" y="4079677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Find similar news articles.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27419" y="4537115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Trend analysis.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27419" y="4994553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Content recommendation.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827419" y="5451991"/>
            <a:ext cx="3850600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Historical comparison.</a:t>
            </a:r>
            <a:endParaRPr lang="en-US" sz="1800" dirty="0"/>
          </a:p>
        </p:txBody>
      </p:sp>
      <p:sp>
        <p:nvSpPr>
          <p:cNvPr id="18" name="Text 5"/>
          <p:cNvSpPr/>
          <p:nvPr/>
        </p:nvSpPr>
        <p:spPr>
          <a:xfrm>
            <a:off x="966072" y="5909428"/>
            <a:ext cx="4012327" cy="781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dirty="0" smtClean="0">
                <a:solidFill>
                  <a:srgbClr val="383838"/>
                </a:solidFill>
                <a:latin typeface="Patrick Hand" pitchFamily="34" charset="0"/>
              </a:rPr>
              <a:t>Vector database for semantic search with </a:t>
            </a:r>
          </a:p>
          <a:p>
            <a:pPr algn="l">
              <a:lnSpc>
                <a:spcPts val="2950"/>
              </a:lnSpc>
              <a:buSzPct val="100000"/>
            </a:pPr>
            <a:r>
              <a:rPr lang="en-US" dirty="0" err="1" smtClean="0">
                <a:solidFill>
                  <a:srgbClr val="383838"/>
                </a:solidFill>
                <a:latin typeface="Patrick Hand" pitchFamily="34" charset="0"/>
              </a:rPr>
              <a:t>embeddings</a:t>
            </a:r>
            <a:endParaRPr lang="en-US" sz="1800" dirty="0"/>
          </a:p>
        </p:txBody>
      </p:sp>
      <p:sp>
        <p:nvSpPr>
          <p:cNvPr id="19" name="Rectangle 18"/>
          <p:cNvSpPr/>
          <p:nvPr/>
        </p:nvSpPr>
        <p:spPr>
          <a:xfrm>
            <a:off x="12729029" y="7649029"/>
            <a:ext cx="1799771" cy="47897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8423"/>
            <a:ext cx="4460915" cy="42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Streamlit Dashboard: User Interface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914400" y="1482566"/>
            <a:ext cx="12801600" cy="1963817"/>
          </a:xfrm>
          <a:prstGeom prst="roundRect">
            <a:avLst>
              <a:gd name="adj" fmla="val 3632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" y="1505426"/>
            <a:ext cx="679252" cy="1918097"/>
          </a:xfrm>
          <a:prstGeom prst="roundRect">
            <a:avLst>
              <a:gd name="adj" fmla="val 6463"/>
            </a:avLst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1145738" y="2305288"/>
            <a:ext cx="254675" cy="318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6295" y="1675209"/>
            <a:ext cx="1727716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Single Article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6295" y="1989177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Text input with preview.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6295" y="2320171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classification.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6295" y="2651165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Confidence visualization.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6295" y="2982158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Sentiment analysis.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616166"/>
            <a:ext cx="12801600" cy="1632823"/>
          </a:xfrm>
          <a:prstGeom prst="roundRect">
            <a:avLst>
              <a:gd name="adj" fmla="val 4369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" y="3639026"/>
            <a:ext cx="679252" cy="1587103"/>
          </a:xfrm>
          <a:prstGeom prst="roundRect">
            <a:avLst>
              <a:gd name="adj" fmla="val 6463"/>
            </a:avLst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5738" y="4273391"/>
            <a:ext cx="254675" cy="318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6295" y="3808809"/>
            <a:ext cx="1698308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Batch 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6295" y="4122777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JSON file upload.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6295" y="4453771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Bulk classification.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6295" y="4784765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Progress tracking.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5418773"/>
            <a:ext cx="12801600" cy="1632823"/>
          </a:xfrm>
          <a:prstGeom prst="roundRect">
            <a:avLst>
              <a:gd name="adj" fmla="val 4369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7260" y="5441633"/>
            <a:ext cx="679252" cy="1587103"/>
          </a:xfrm>
          <a:prstGeom prst="roundRect">
            <a:avLst>
              <a:gd name="adj" fmla="val 6463"/>
            </a:avLst>
          </a:prstGeom>
          <a:solidFill>
            <a:srgbClr val="CCCCCC"/>
          </a:solidFill>
          <a:ln/>
        </p:spPr>
      </p:sp>
      <p:sp>
        <p:nvSpPr>
          <p:cNvPr id="20" name="Text 18"/>
          <p:cNvSpPr/>
          <p:nvPr/>
        </p:nvSpPr>
        <p:spPr>
          <a:xfrm>
            <a:off x="1145738" y="6075998"/>
            <a:ext cx="254675" cy="318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86295" y="5611416"/>
            <a:ext cx="1698308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86295" y="5925383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Natural language queries.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6295" y="6256377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Similarity scoring.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6295" y="6587371"/>
            <a:ext cx="117370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Result filtering.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7242572"/>
            <a:ext cx="1280160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Designed with a responsive layout, real-time updates, and error handling.</a:t>
            </a:r>
            <a:endParaRPr lang="en-US" sz="1300" dirty="0"/>
          </a:p>
        </p:txBody>
      </p:sp>
      <p:sp>
        <p:nvSpPr>
          <p:cNvPr id="26" name="Rectangle 25"/>
          <p:cNvSpPr/>
          <p:nvPr/>
        </p:nvSpPr>
        <p:spPr>
          <a:xfrm>
            <a:off x="12729029" y="7649029"/>
            <a:ext cx="1799771" cy="47897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2042755"/>
            <a:ext cx="3588544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Implementation &amp;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6073" y="2939772"/>
            <a:ext cx="2254687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Functional Requirements Met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66073" y="3388281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Deep Learning/ML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6073" y="3738086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Text Classification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6073" y="4087892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6073" y="4437698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Vector Database (ChromaDB)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6073" y="4787503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6073" y="5137309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Streamlit Interface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6073" y="5487114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Docker Containerization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6074" y="5836919"/>
            <a:ext cx="3155984" cy="153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Git Version </a:t>
            </a: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Control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Transformer/LLM Usage 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Embedding Generation &amp; Storage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51859" y="2939772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Technical Specifications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51859" y="3388281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3.10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51859" y="3738086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FastAPI + Uvicorn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51859" y="4087892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Streamlit 1.28+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51859" y="4437698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ChromaDB 0.4.15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51859" y="4787503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NLTK for NLP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51859" y="5137308"/>
            <a:ext cx="3940493" cy="146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Modern NLP libraries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Sentence Transformers 2.2.2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err="1" smtClean="0">
                <a:solidFill>
                  <a:srgbClr val="383838"/>
                </a:solidFill>
                <a:latin typeface="Patrick Hand" pitchFamily="34" charset="0"/>
              </a:rPr>
              <a:t>LangChain</a:t>
            </a: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 </a:t>
            </a:r>
          </a:p>
          <a:p>
            <a:pPr algn="l">
              <a:lnSpc>
                <a:spcPts val="2250"/>
              </a:lnSpc>
              <a:buSzPct val="100000"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37646" y="2939772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Performance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737646" y="3388281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&lt; 2s classification time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37646" y="3738086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Batch processing support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37646" y="4087892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semantic 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37646" y="4437698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Scalable architecture</a:t>
            </a:r>
            <a:endParaRPr lang="en-US" sz="1400" dirty="0"/>
          </a:p>
        </p:txBody>
      </p:sp>
      <p:sp>
        <p:nvSpPr>
          <p:cNvPr id="24" name="Rectangle 23"/>
          <p:cNvSpPr/>
          <p:nvPr/>
        </p:nvSpPr>
        <p:spPr>
          <a:xfrm>
            <a:off x="12729029" y="7649029"/>
            <a:ext cx="1799771" cy="47897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529001"/>
            <a:ext cx="3588544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6073" y="2605445"/>
            <a:ext cx="4113133" cy="1951434"/>
          </a:xfrm>
          <a:prstGeom prst="roundRect">
            <a:avLst>
              <a:gd name="adj" fmla="val 5623"/>
            </a:avLst>
          </a:prstGeom>
          <a:solidFill>
            <a:srgbClr val="F7F7F7"/>
          </a:solidFill>
          <a:ln/>
        </p:spPr>
      </p:sp>
      <p:sp>
        <p:nvSpPr>
          <p:cNvPr id="4" name="Shape 2"/>
          <p:cNvSpPr/>
          <p:nvPr/>
        </p:nvSpPr>
        <p:spPr>
          <a:xfrm>
            <a:off x="966073" y="2582585"/>
            <a:ext cx="4113133" cy="91440"/>
          </a:xfrm>
          <a:prstGeom prst="roundRect">
            <a:avLst>
              <a:gd name="adj" fmla="val 82415"/>
            </a:avLst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2753499" y="2336363"/>
            <a:ext cx="538282" cy="538282"/>
          </a:xfrm>
          <a:prstGeom prst="roundRect">
            <a:avLst>
              <a:gd name="adj" fmla="val 169874"/>
            </a:avLst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2914948" y="2470904"/>
            <a:ext cx="21526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68360" y="3053953"/>
            <a:ext cx="1915835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Docker Desktop Compatibility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8360" y="3385780"/>
            <a:ext cx="37085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Issue: Windows Docker Engine instability.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8360" y="3780473"/>
            <a:ext cx="3708559" cy="57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Solution: Designed container architecture + provided native Python deployment alternative.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58633" y="2605445"/>
            <a:ext cx="4113133" cy="1951434"/>
          </a:xfrm>
          <a:prstGeom prst="roundRect">
            <a:avLst>
              <a:gd name="adj" fmla="val 5623"/>
            </a:avLst>
          </a:prstGeom>
          <a:solidFill>
            <a:srgbClr val="F7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5258633" y="2582585"/>
            <a:ext cx="4113133" cy="91440"/>
          </a:xfrm>
          <a:prstGeom prst="roundRect">
            <a:avLst>
              <a:gd name="adj" fmla="val 82415"/>
            </a:avLst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6059" y="2336363"/>
            <a:ext cx="538282" cy="538282"/>
          </a:xfrm>
          <a:prstGeom prst="roundRect">
            <a:avLst>
              <a:gd name="adj" fmla="val 169874"/>
            </a:avLst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7207508" y="2470904"/>
            <a:ext cx="21526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460921" y="3053953"/>
            <a:ext cx="179427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 smtClean="0"/>
              <a:t>Model Selection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60921" y="3385780"/>
            <a:ext cx="37085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Issue</a:t>
            </a: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Balancing accuracy vs. deployment size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60921" y="3780473"/>
            <a:ext cx="3708559" cy="57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Solution</a:t>
            </a: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Used efficient </a:t>
            </a:r>
            <a:r>
              <a:rPr lang="en-US" sz="1400" dirty="0" err="1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MiniLM</a:t>
            </a: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transformer for embedding while meeting deep learning requirement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51194" y="2605445"/>
            <a:ext cx="4113133" cy="1951434"/>
          </a:xfrm>
          <a:prstGeom prst="roundRect">
            <a:avLst>
              <a:gd name="adj" fmla="val 5623"/>
            </a:avLst>
          </a:prstGeom>
          <a:solidFill>
            <a:srgbClr val="F7F7F7"/>
          </a:solidFill>
          <a:ln/>
        </p:spPr>
      </p:sp>
      <p:sp>
        <p:nvSpPr>
          <p:cNvPr id="18" name="Shape 16"/>
          <p:cNvSpPr/>
          <p:nvPr/>
        </p:nvSpPr>
        <p:spPr>
          <a:xfrm>
            <a:off x="9551194" y="2582585"/>
            <a:ext cx="4113133" cy="91440"/>
          </a:xfrm>
          <a:prstGeom prst="roundRect">
            <a:avLst>
              <a:gd name="adj" fmla="val 82415"/>
            </a:avLst>
          </a:prstGeom>
          <a:solidFill>
            <a:srgbClr val="CCCCCC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38620" y="2336363"/>
            <a:ext cx="538282" cy="538282"/>
          </a:xfrm>
          <a:prstGeom prst="roundRect">
            <a:avLst>
              <a:gd name="adj" fmla="val 169874"/>
            </a:avLst>
          </a:prstGeom>
          <a:solidFill>
            <a:srgbClr val="CCCCCC"/>
          </a:solidFill>
          <a:ln/>
        </p:spPr>
      </p:sp>
      <p:sp>
        <p:nvSpPr>
          <p:cNvPr id="20" name="Text 18"/>
          <p:cNvSpPr/>
          <p:nvPr/>
        </p:nvSpPr>
        <p:spPr>
          <a:xfrm>
            <a:off x="11500068" y="2470904"/>
            <a:ext cx="21526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753481" y="3053953"/>
            <a:ext cx="1829753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Vector Database Integration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53481" y="3385780"/>
            <a:ext cx="37085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Issue: Real-time embedding storage &amp; retrieval.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53481" y="3780473"/>
            <a:ext cx="37085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Solution: ChromaDB with efficient similarity search.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6073" y="4825960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Learning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66073" y="5364123"/>
            <a:ext cx="126982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Containerization design principles.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6073" y="5713928"/>
            <a:ext cx="126982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ML pipeline development.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6073" y="6063734"/>
            <a:ext cx="126982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Production deployment strategies.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6073" y="6413540"/>
            <a:ext cx="126982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Problem-solving with constraints.</a:t>
            </a:r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12729029" y="7649029"/>
            <a:ext cx="1799771" cy="47897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2320885"/>
            <a:ext cx="3588544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6073" y="3217902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Success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66073" y="3666411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Complete ML/NLP application built.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6073" y="4016216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All functional requirements satisfied.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6073" y="4366022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Containerized architecture designed.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6073" y="4715828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User-friendly interface implemented.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6073" y="5065633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/>
              <a:t>Industry-standard Ml stack with transformer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51859" y="3217902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Business Value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351859" y="3666411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Automated news categorization.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51859" y="4016216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sentiment analysis.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51859" y="4366022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Scalable deployment ready.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51859" y="4715828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Cost-effective (no API fees).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37646" y="3217902"/>
            <a:ext cx="2153126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Future Enhancements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37646" y="3666411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Fine-tuned transformer models.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37646" y="4016216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Multi-language support.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37646" y="4366022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news feed integration.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37646" y="4715828"/>
            <a:ext cx="394049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Advanced analytics dashboard.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37646" y="5065632"/>
            <a:ext cx="3940493" cy="1131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Cloud deployment (AWS/Azure</a:t>
            </a: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).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Deploy larger transformer models for improved accuracy</a:t>
            </a:r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 smtClean="0">
                <a:solidFill>
                  <a:srgbClr val="383838"/>
                </a:solidFill>
                <a:latin typeface="Patrick Hand" pitchFamily="34" charset="0"/>
              </a:rPr>
              <a:t>Fine-tune embedding on news domain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6073" y="5684520"/>
            <a:ext cx="179427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Thank You!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12729029" y="7649029"/>
            <a:ext cx="1799771" cy="47897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608</Words>
  <Application>Microsoft Office PowerPoint</Application>
  <PresentationFormat>Custom</PresentationFormat>
  <Paragraphs>174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等线</vt:lpstr>
      <vt:lpstr>Patrick Hand</vt:lpstr>
      <vt:lpstr>Patrick Hand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School</cp:lastModifiedBy>
  <cp:revision>6</cp:revision>
  <dcterms:created xsi:type="dcterms:W3CDTF">2025-12-10T18:34:39Z</dcterms:created>
  <dcterms:modified xsi:type="dcterms:W3CDTF">2025-12-11T02:46:39Z</dcterms:modified>
</cp:coreProperties>
</file>